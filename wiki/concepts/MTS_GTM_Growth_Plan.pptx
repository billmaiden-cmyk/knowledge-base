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2743200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B57C"/>
                </a:solidFill>
                <a:latin typeface="Arial"/>
              </a:defRPr>
            </a:pPr>
            <a:r>
              <a:t>MORE THAN STRATA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GTM Growth Plan &amp; AI GTM 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BBBBB"/>
                </a:solidFill>
                <a:latin typeface="Arial"/>
              </a:defRPr>
            </a:pPr>
            <a:r>
              <a:t>Six-Month Growth Sprint — April to October 2026</a:t>
            </a:r>
          </a:p>
          <a:p>
            <a:pPr>
              <a:defRPr sz="1400" b="0">
                <a:solidFill>
                  <a:srgbClr val="BBBBBB"/>
                </a:solidFill>
                <a:latin typeface="Arial"/>
              </a:defRPr>
            </a:pPr>
            <a:r>
              <a:t>Khoi Nguyen, GTM Specialist &amp; AI GTM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88888"/>
                </a:solidFill>
                <a:latin typeface="Arial"/>
              </a:defRPr>
            </a:pPr>
            <a:r>
              <a:t>Prepared: April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MTS can reach 10 buildings/month at current spend, then scale to 20+ by doubling budget — and Khoi architects the AI platform that makes it permanent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2/19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7560"/>
                </a:solidFill>
                <a:latin typeface="Arial"/>
              </a:defRPr>
            </a:pPr>
            <a:r>
              <a:t>THE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MTS wins ~2.75 buildings/month from Google Ads at $1,900 CAC.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The funnel leaks 73% of its potential value.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MTS holds &lt;10% impression share — 90% of the market isn't seeing us.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No follow-up system. No outbound. No landing page optimisation.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Bill spends 60-90 minutes per lead on low-value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7560"/>
                </a:solidFill>
                <a:latin typeface="Arial"/>
              </a:defRPr>
            </a:pPr>
            <a:r>
              <a:t>THE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1. Optimise the funnel first (Months 1-3): fix landing pages, quality scores,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 follow-up — reach 10 bldgs/month at same $5.2k spend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2. Scale budget (Months 4-6): increase to $10-12k/month to capture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 impression share headroom — reach 20+ bldgs/month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3. Layer in 3 campaigns: old lead DB, SBBIS/defects, large building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 key account — adding 3-5 bldgs/month beyond Google Ads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4. Khoi architects the AI GTM platform: every manual workflow becomes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 an automation spec — AI GTM Architecture Spec delivered by Week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02920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SIX-MONTH OUTCOME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~93 new buildings | ~1,120 new lots | ~$748k new ARR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CAC drops from $1,900 to ~$520 | AI GTM platform = permanent business asset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91840"/>
            <a:ext cx="5029200" cy="9144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GATE RULE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Do NOT increase budget until optimised funnel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produces 10+ buildings/month at current spend.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5029200" cy="118872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AI GTM IS A BUSINESS ASSET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It scales without headcount, transfers to a GM,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feeds the Block/acquisition thesis, and is a component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of MTS's $20m equity value at Year 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MTS Google Ads Analysis (Mar 2026), Bill Maiden operational data (Apr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MTS wins 2.75 buildings/month but the funnel wastes 73% of its potential — the problems are upstream, not in Bill's close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3/19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2286000"/>
                <a:gridCol w="46634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Volume/Month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Issue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Ad Spend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$5,162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&lt;10% impression share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Clicks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~615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CPCs inflated 25-50% by low quality scores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 Submissions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5.0% click-to-form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Landing pages aged, inconsistent (2.5-8.1%)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 → Call with Bill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~15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Half are junk or non-responsive; no follow-up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Call → Won Building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25-30%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Strong. This is NOT the problem.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Buildings Won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2.75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True CAC: $1,900 per building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754880"/>
            <a:ext cx="54864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KEY INSIGHT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Bill's close rate (25-30%) is strong. The problem is everything before the call: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junk leads, slow follow-up, poor landing pages, wasted spend.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4754880"/>
            <a:ext cx="4937760" cy="109728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IMPRESSION SHARE: &lt;10%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MTS is invisible in 9 out of 10 relevant searches.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This is the growth headroom — but only after the funnel is fixed.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Google Ads account data (5-month average, Oct 2025 - Mar 2026), Bill Maiden (12 Apr 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Five fixable problems explain why MTS gets 2.75 buildings instead of 10 from the same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4/19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4114800"/>
                <a:gridCol w="356616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Problem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Dead spend: $866/month on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non-converting terms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$690 competitor/report keywords, $77 Body Corp,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$38 Suburbs, $304 /trust_value (0 conv), $2,476 expired offer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Losing ~103 clicks/month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to junk terms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19 low quality score keywords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inflating CPCs 25-50%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Top converters ("strata contract", "change strata")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flagged low quality — ads land on wrong pages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 $8.40 vs achievable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~$6.30 (-25%)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Landing pages aged and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inconsistent (2.5% to 8.1%)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/offer-1 converts at 8.1% ($96/conv) but traffic still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flows to pages at 2.5% ($390/conv)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Account average 5.0%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vs best page 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 follow-up system —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one text, then dead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texts once. No nurture, no sequence,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 second attempt. 50% of leads lost.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~15 form fills/month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never become calls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 outbound, no lead DB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reactivation, no campaign pages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Old leads never re-engaged. No defects page.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 proactive prospecting.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Zero pipeline beyond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Google Ads inbound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394960"/>
            <a:ext cx="1088136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All five are fixable in Months 1-3 at current spend. They compound multiplicatively.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MTS Google Ads Analysis (Mar 2026), search term reports, landing page conversion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Two-phase strategy: optimise the funnel first (10 bldgs/month), then scale budget to capture the 90% headroom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5/19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029200" cy="411480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A7560"/>
                </a:solidFill>
                <a:latin typeface="Arial"/>
              </a:defRPr>
            </a:pPr>
            <a:r>
              <a:t>PHASE A: OPTIMISE (Months 1-3)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Same $5,162/month spend. Fix the leaks.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Eliminate $866/month dead spend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Rebuild landing pages (target 7%+ conversion)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Fix quality scores → CPCs drop 25%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Khoi runs follow-up system (form-to-call: 50% → 62%)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Campaign-specific pages pre-qualify leads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Build proof assets (case studies, Zendesk metrics)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Target: 10 buildings/month at ~$520 CAC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GATE: Do not increase budget until 10 bldgs/month proven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394960" cy="4114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A7560"/>
                </a:solidFill>
                <a:latin typeface="Arial"/>
              </a:defRPr>
            </a:pPr>
            <a:r>
              <a:t>PHASE B: SCALE (Months 4-6)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Increase budget to capture impression share.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Current: &lt;10% impression share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Scale to $10-12k/month (→ 15-25% share)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CAC holds at ~$520 (fixed funnel)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15-23 buildings/month from Ads alone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Layer in outbound + lead DB campaigns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Combined: 18-27 buildings/month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Target: $748k new ARR run rate by Month 6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SCALE RULE: Increase budget in $2-3k/month increments.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Monitor CAC at each level.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577840"/>
            <a:ext cx="10881360" cy="64008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WHY THIS ORDER MATTERS: Scaling budget before fixing the funnel scales the waste. At current 5% conversion and $1,900 CAC, doubling budget just doubles the cost per building.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MTS Google Ads Analysis (Mar 2026), funnel analysis (Apr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Five levers compound to take MTS from 2.75 to ~10 buildings/month at the same budget — each backed by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6/19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9784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3474720"/>
                <a:gridCol w="1371600"/>
                <a:gridCol w="109728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Lever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Changes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+Buildings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Waste elimination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Redirect $866/month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to converting keywords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$690 competitor terms + $77 Body Corp +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$38 Suburbs + $304 /trust_value (0 conv)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 reduction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(quality scores)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CPC: $8.40 → $6.30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(-25%)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19 keywords flagged low quality; Google's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own data: fix = 16-50% CPC drop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MED-HIGH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+2.0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Landing page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conversion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Click-to-form: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5.0% → 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/offer-1 already converts at 8.1%;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7% target is below proven benchmark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Form-to-call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improvement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Form-to-call: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50% → 62%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Better pre-qualification + Khoi follow-up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(currently: 1 text, then dead)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+1.5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Close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Held at 27.5-28%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confirms strong; not modelled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 improvement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029200"/>
            <a:ext cx="68580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COMPOUND RESULT: 2.75 → 9.9 buildings (rounds to ~10)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Levers multiply: more clicks × higher conversion × better follow-up × same close rate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CAC drops from $1,900 to $520 (-73%)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5029200"/>
            <a:ext cx="3749039" cy="109728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SCENARIOS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Conservative: 6.6 bldgs ($782 CAC)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Mid-case: 9.9 bldgs ($520 CAC)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Optimistic: 13.2 bldgs ($391 CAC)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Google Ads account data, landing page performance, Google quality score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Each lever is justified by MTS's own data — the 7% landing page target is below an existing MTS page that already converts at 8.1%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7/19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2468880"/>
                <a:gridCol w="246888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Assumption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Justification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Would Invalidate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 drops 25%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($8.40 → $6.30)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19 keywords flagged low quality spending $2k/month.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Google docs: quality fix = 16-50% CPC drop.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25% is the midpoint, not the optimistic end.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Quality scores don't improve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despite new landing pages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 drops 15% instead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→ +1.2 bldgs (not +2.0)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Click-to-form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lifts to 7%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/offer-1 converts at 8.1% on 99 clicks.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7% is BELOW the proven MTS benchmark.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Traffic currently goes to 2.5-4.0% pages.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/offer-1's 8.1% was a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small sample fluke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Reaches 6% instead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→ +1.5 bldgs (not +2.5)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Form-to-call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lifts to 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Two drivers: (1) campaign pages pre-qualify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(defects searcher lands on defects page, not generic);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(2) Khoi follow-up vs current "1 text, dead"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Non-responsive leads are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not recoverable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Reaches 55% instead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→ +0.7 bldgs (not +1.5)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Close rate holds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at 27.5-28%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reports 25-30%, confirms it's strong.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Proof assets may edge it up but not modelled.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N/A — held flat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N/A — conservative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assumption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577840"/>
            <a:ext cx="1088136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EVEN THE CONSERVATIVE CASE NEARLY TRIPLES OUTPUT (6.6 bldgs from 2.75). The model is robust because it's benchmarked against MTS's own data, not industry averages.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Google Ads landing page data, Google quality score documentation, InsideSales.com follow-up research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The optimised funnel produces ~10 buildings/month at the same $5,162 spend — a 260% increase driven by fixing upstream waste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8/19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097280"/>
                <a:gridCol w="521208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Optimised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Drives It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Budget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$5,162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$5,162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$8.40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$6.30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-25%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Quality score fix from new landing pages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Clicks/month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615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820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Same spend, lower CPC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Click-to-form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5.0%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7.0%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+40%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Landing page rebuild (benchmark: /offer-1 at 8.1%)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Forms/month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More clicks × better pages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Form-to-call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62%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+24%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Pre-qualification + Khoi follow-up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Calls/month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+133%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More forms × better conversion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Close rate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27.5%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Holds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Already strong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Buildings/month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+260%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Compound effect of all levers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CAC/building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$1,900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$520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-73%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Same spend, 3.6× output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MTS Google Ads Analysis (Mar 2026), funnel modelling (Apr 2026)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After optimisation, scaling to $10-12k/month captures 15-25% impression share and produces 19-23 buildings/month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9/19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Budget/month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Imp. Share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Clicks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Forms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Calls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Won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CAC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$5,162 (current)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&lt;10%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820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$8,000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~15%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1,270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$530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1,590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$12,000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~23%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1,900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$520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2,380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297680"/>
            <a:ext cx="64008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THE MATH: At $10-12k/month, each new building generates $8,000 ARR at ~$520 CAC. Payback: under 1 month per building. ROI on incremental ad spend: 35:1 in first-year ARR.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297680"/>
            <a:ext cx="4023360" cy="109728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CAUTION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Linear extrapolations. CPCs may rise at higher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impression share (diminishing returns).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Scale in $2-3k/month increments and monitor.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Google Ads impression share data, funnel model (Apr 2026). Assumes optimised funnel at 7% conv, 62% form-to-call.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Campaign 1: Old lead database reactivation is the fastest path to won buildings — zero ad spend, warm contacts, overdue since March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10/19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WHY THIS IS #1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These are people who already raised their hand — enquired about MTS but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were never systematically followed up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Assigned to Bill in the One Page Plan (due 13 March). Not started.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Conversion rates on warm leads far exceed cold inbound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Zero ad spend required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Fastest ramp: campaign can launch in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Export from HubSpot, assess volume, segment by building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size/location/reason for enquiry/last-touch date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Compelling offer: new contract terms, outcomes data, case studies,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"3 months free" (consistent with best-performing ad)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Systematic outreach by segment, not blast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Multi-touch: email → phone → follow-up email with case study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Track in HubSpot with dedicated pipeline 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EXPECTED YIELD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2-3 buildings/month in Months 2-3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Diminishes as database is worked through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1-2 buildings/month in Months 4-6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17520"/>
            <a:ext cx="5029200" cy="91440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COST: $0 ad spend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Khoi's time only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Highest ROI channel in the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206240"/>
            <a:ext cx="5029200" cy="7315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OVERDUE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This was due 13 March.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Khoi takes ownership Week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MTS One Page Strategy Plan 2026, HubSpot lead database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Campaign 2: Target buildings approaching 12-month renewal and new registrations via NSW Strata Search — defects playbook as the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11/19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THE 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Scrape NSW Strata Search (agent exists) for recently registered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strata plans and buildings approaching 12-month manager renewal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New strata plans = SBBIS obligations (statutory building bond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inspections). Committees don't know what to do → MTS positions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as the expert with the Defects Playbook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12-month renewal = natural switching window. Target with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"change strata manager" messaging and MTS outcomes data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Build a dedicated Defects Playbook landing page for Google Ads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(high-intent keyword: "strata defects")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WHY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Timing-based targeting = higher conversion (they need a manager NOW)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Defects expertise is a genuine differentiator for MTS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Landing page serves double duty: Google Ads destination + outbound link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Low competition — most strata managers don't target this segment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11887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EXPECTED YIELD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0.5-1 building/month initially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Ramps as campaign page + scraper pipeline matures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1-2 buildings/month by Month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5029200" cy="137160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ASSETS NEEDED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NSW Strata Search scraper (exists)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Defects Playbook landing page (build W3-5)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SBBIS explainer content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Outreach sequence templates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5029200" cy="9144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DUAL PURPOSE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Campaign page = Google Ads destination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for "strata defects" keywords AND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outbound collateral for scraped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NSW Strata Schemes Management Act, MTS Defects Playbook, strata scraper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Campaign 3: Large building key account strategy targets high-value buildings — one large building win equals 6 small buildings in lot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12/19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One large building (~70 lots) at $400/lot/year = $28,000 ARR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Equivalent to winning ~6 small buildings (12 lots each)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Wealth plan targets: 1 large building per quarter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Large buildings have longer sales cycles but higher lifetime value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Currently: no systematic approach to large building pursuit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Identify target buildings: 50+ lots, Sydney metro, likely dissatisfied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(complaints, poor reviews, known problem managers)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Research each target: committee members, AGM timing, pain points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Personalised outreach via committee chair (not generic blast)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Position around specific pain point (defects, financials, comms)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AGM timing trigger: attend or present before management vote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Track in dedicated pipeline with longer nurture cadence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11887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EXPECTED YIELD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1 large building per quarter (~70 lots, $28k ARR)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Equivalent to ~6 small buildings per quarter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4 large buildings in 12 months = $112k ARR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5029200" cy="118872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KEY ACCOUNT ECONOMICS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$28,000 ARR per building vs $7,200 for small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3.9x the revenue per win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Longer sales cycle but significantly higher LTV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MTS pricing model, wealth plan organic growth assumptions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The six-month revenue bridge: ~93 new buildings adding ~$748k ARR, putting MTS on track for the 2,500-lot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13/19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8869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97280"/>
                <a:gridCol w="1097280"/>
                <a:gridCol w="914400"/>
                <a:gridCol w="1005840"/>
                <a:gridCol w="914400"/>
                <a:gridCol w="1005840"/>
                <a:gridCol w="822960"/>
                <a:gridCol w="128016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Google Ads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DB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Outbound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Won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Cumul.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New ARR Rate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$5.2k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$24k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May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Optimise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$5.2k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$64k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Jun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Optimise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$5.2k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9.5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17.5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$140k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Jul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Scale begins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2.5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$8k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13.5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$248k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$392k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Sep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Scale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$12k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$560k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$12k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93.5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$748k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754880"/>
            <a:ext cx="5029200" cy="11887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SIX-MONTH TOTAL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~93 new buildings | ~1,120 new lots | ~$748k new ARR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Total incremental ad spend vs baseline: ~$21k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ROI on incremental spend: 35:1 in first-year ARR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754880"/>
            <a:ext cx="5394960" cy="118872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TARGET CONTEXT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Current: ~1,300-2,000 lots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Month 6 target: 2,200 lots (capacity band proof)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Growth target: 2,500 lots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This plan delivers ~1,120 new 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Funnel model (Apr 2026), $8,000 ARR/building, 85% retention. Month 6 numbers depend on Phase A optimisation succeeding.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AI GTM is the end-to-end platform covering marketing and sales — Khoi architects it by doing the work manually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14/19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029200" cy="365760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MARKETING (Demand Gen → Qualified Lead)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Paid acquisition management — Google Ads optimisation,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bid management, budget allocation, quality scores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Landing page engine — campaign-specific pages matching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search intent, 7%+ conversion target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Content &amp; proof assets — case studies, outcome reports,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Zendesk dashboards, playbooks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Lead capture &amp; scoring — HubSpot forms, gclid tracking,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lifecycle automation, intent-based scoring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Outbound prospecting — NSW Strata Search scraper,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automated target lists, outreach sequences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Lead nurture — multi-touch automated sequences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Campaign analytics — end-to-end attribution, channel ROI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394960" cy="3657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SALES (Qualified Lead → Won Building)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Auto-text from calendar (P1 fast win) — lead arrives,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reads Bill's calendar, SMS sent with next slot, call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booked without Bill touching it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Proposal automation — building image sourced from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realestate.com.au/domain (hardest step), ABN lookup,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template filling, "Our Understanding" from call notes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Cover email — standard template, first paragraph maps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pain point (responsiveness/progress/fees) to MTS answer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Pricing engine — rules-based from lot count, type,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discounts. Bill approves; system suggests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Pipeline management — Zendesk as hub, full lifecycle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tracking, weekly dashboard, monthly funnel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12080"/>
            <a:ext cx="1088136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THIS IS A BUSINESS ASSET — it scales without headcount, transfers to a GM, feeds the Block/acquisition thesis, and is a component of MTS's $20m equity value at Year 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GTM planning session (Apr 2026), Three-Engine Wealth Plan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Every workflow Khoi runs manually becomes the spec for the automated platform — prove with people, then automate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15/19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9418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286000"/>
                <a:gridCol w="2286000"/>
                <a:gridCol w="91440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Now (Manual)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Next (AI-Assisted)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Future (Automated)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Auto-text from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calendar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texts each lead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manually, checks diary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AI reads calendar, sends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SMS with next slot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Auto-send, no Bill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touch at 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P1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Fast Win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Lead capture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HubSpot → Khoi checks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HubSpot → Zendesk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auto-ticket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Building image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(hardest step)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Thao searches realestate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/domain, copies image,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pastes as PPTX cover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Street View API +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realestate.com.au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scraper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Auto-sourced,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auto-inserted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P4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Hardest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ABN + template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filling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Thao looks up ABN,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fills SP/address/contacts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ABN API + python-pptx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auto-fills all fields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Fully automated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Pain point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mapping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writes "Our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Understanding" from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call notes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LLM drafts from notes,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maps to 5 themes,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edits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LLM-powered,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reviews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Cover email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drafts (standard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template + custom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first paragraph)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LLM drafts, maps pain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point to MTS answer,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reviews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LLM-powered,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reviews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Pricing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decides, Khoi enters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Rules engine suggests,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approves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Deterministic,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approves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Google Ads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 manages in UI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Semi-automated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bid/budget rules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AI agent within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guardrails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Outbound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Scraper + manual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 scraper →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target 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Automated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prospecting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852160"/>
            <a:ext cx="1088136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PRINCIPLE: Khoi's manual execution IS the requirements document for the AI platform. He doesn't write specs from theory — he proves the workflow works, documents it, then hands it to engineering.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AI GTM architecture definition (Apr 2026)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Khoi delivers the AI GTM Architecture Spec by Week 12 — a 90-day deliverable inside the 6-month growth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16/19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411480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Khoi Does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It Becomes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Execute &amp;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Document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W4-W8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Runs every GTM workflow manually,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documents each step: inputs, outputs,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systems, time, decisions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Requirements document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 automation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Map &amp;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Prioritise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W8-W10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Maps data flows between systems,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identifies what's automatable,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ranks by ROI vs complexity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Integration architecture +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automation backlog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Specify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W9-W12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Defines AI agent specs: what each does,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guardrails, human-in-the-loop points.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Maps to agent swarm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AI GTM Architecture Spec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 engineering handover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Build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W13-W26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Works with Quang to build: HubSpot→Zendesk,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nurture workflows, proposal automation,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outbound pipeline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Live AI GTM platform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 a business asset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7560"/>
                </a:solidFill>
                <a:latin typeface="Arial"/>
              </a:defRPr>
            </a:pPr>
            <a:r>
              <a:t>THE SPEC DEFINES: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1. Full workflow from demand gen to won building (validated by manual execution)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2. Which steps are automatable vs require human judgement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3. Data flows: HubSpot ↔ Zendesk ↔ Google Ads ↔ StrataMax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4. Integration requirements for Quang's engineering team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5. AI agent specifications (inputs, outputs, guardrails)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6. Priority order for automation (highest ROI first)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7. Human-in-the-loop points (Bill's call, pricing, proposal review)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663440"/>
            <a:ext cx="4937760" cy="164592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ASSET VALUE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The AI GTM platform: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Scales without linear headcount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Transfers to a GM when hired (Month 13)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Feeds the Block/acquisition thesis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Component of $20m equity value at Year 5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Potentially becomes "My Strata Manager"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GTM planning session (Apr 2026), Three-Engine Wealth Plan, Agent Swarm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Sales automation cuts Bill's time from 60-90 min to 25 min per lead and eliminates Thao's template work entirely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17/19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392B"/>
                </a:solidFill>
                <a:latin typeface="Arial"/>
              </a:defRPr>
            </a:pPr>
            <a:r>
              <a:t>CURRENT: BILL + THAO (60-90 min + 30-60 min per lead)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9601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1097280"/>
                <a:gridCol w="4114800"/>
                <a:gridCol w="164592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Who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Happens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Automated?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1. Lead arrives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Tim→Bill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5-30 min lag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HubSpot form → email forwarded to Bill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P2: Auto-ticket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2. Text prospect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 min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texts with proposed call time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P1: Auto-text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from calendar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3. Discovery 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15-30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Learn pain points, assess 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NOT automated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(high value)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4. Find building image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Thao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15-25 min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Search realestate.com.au / domain.com.au,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copy image, paste as PPTX cover background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P4: Street View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 scraper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5. ABN + template fill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Thao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15-30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ABN lookup, fill SP/address/contacts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into proposal PPTX + agreement DOCX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P3: ABN API +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python-pptx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6. "Our Understanding"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10 min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Write pain points (usually: responsiveness,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lack of progress, or fee transparency)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P5: LLM drafts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from call notes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7. Pricing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Apply rules: lot count × rate, discounts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P7: Rules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8. Cover email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15 min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Standard template + custom first paragraph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mapping pain point to MTS structural answer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P6: LLM draft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6400800" cy="7315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TARGET STATE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Bill: ~25 min (call + quick reviews) | Thao: 0 min (eliminated)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Auto-text is the fast win (W3-6). Building image is the hardest step (W8-14).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5486400"/>
            <a:ext cx="4023360" cy="91440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BUILD ORDER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P1: Auto-text (fast win)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P2: HubSpot→Zendesk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P3: ABN + templates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P4: Building image (hardest)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P5-7: LLM tasks +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BD Lead Automation design (Apr 2026), Bill Maiden operational workflow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Eight workstreams across 26 weeks — growth, campaigns, AI GTM architecture, and sales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18/19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1371600"/>
                <a:gridCol w="731520"/>
                <a:gridCol w="731520"/>
                <a:gridCol w="4846320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Workstream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Start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End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Deliverable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Lead Database Reactivation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Database audited, campaign launched, 2-3 bldgs/month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Google Ads Quick Wins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$866/month waste eliminated, redirects executed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Landing Page Rebuild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3+ pages rebuilt, 7%+ conversion, quality scores 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Pipeline &amp; Reporting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HubSpot-Ads connected, weekly dashboard, UTM tracking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Outbound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SBBIS/defects campaign, large building key accounts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Budget Scaling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Khoi/Bill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W12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W26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Budget $5.2k → $12k, 15-25% impression share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AI GTM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Khoi/Quang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Spec by W12, first automations live W13+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Sales Automation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Quang/Bill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W16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Auto-text W6, proposals W10, building image W14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212080"/>
            <a:ext cx="10881360" cy="7315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MONTHS 1-3: Fix funnel + launch campaigns + build auto-text + document for AI GTM spec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MONTHS 4-6: Scale budget + build proposal automation + deliver AI GTM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126480"/>
            <a:ext cx="10881360" cy="45720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TRIPLE OUTPUT: Growth (buildings) + Architecture (AI GTM spec) + Automation (sales pipeline). Khoi's manual work IS the spec.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GTM Growth Plan &amp; AI GTM Architecture (Apr 2026)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Four actions this week: Deel contract, Khoi access, lead DB export, and Google Ads quick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19/19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029200"/>
                <a:gridCol w="1645920"/>
                <a:gridCol w="1828800"/>
                <a:gridCol w="192024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Issue Deel employment agreement for Khoi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Mon 14 Apr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Confirm 16 hrs/week part-time structure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Mon 14 Apr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Provision Khoi access: HubSpot, Zendesk, Google 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Bill/Keira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By Wed 16 Apr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Export lead database from HubSpot for audit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Week 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Ready to start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Execute Google Ads quick wins (redirects, pauses)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Week 1-2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Ready to start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Document pricing rules (currently in Bill's head)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By Week 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Needed for proposals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Hand over copy drafts + Lovable prompt from March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Bill/Keira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Week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Assets exist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754880"/>
            <a:ext cx="502920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MONTH 3 SUCCESS CRITERIA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10+ buildings/month from Google Ads at ~$520 CAC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2-3 buildings/month from lead database reactivation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Pipeline dashboard operational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3+ landing pages rebuilt and converting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AI GTM Architecture Spec delivered to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754880"/>
            <a:ext cx="5394960" cy="164592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MONTH 6 TARGET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18-27 buildings/month (all channels)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~93 cumulative new buildings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~$748k new ARR run rate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Budget scaled to $10-12k/month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First AI GTM automations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GTM Growth Plan (Apr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